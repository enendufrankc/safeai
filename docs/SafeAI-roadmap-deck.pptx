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SafeAI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6C79A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Calibri"/>
              </a:defRPr>
            </a:pPr>
            <a:r>
              <a:t>Ship the smallest useful thing first. Expand based on real feedback.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Calibri"/>
              </a:defRPr>
            </a:pPr>
            <a:r>
              <a:t>Roadmap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423160"/>
            <a:ext cx="9601200" cy="7315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17320" y="2011680"/>
            <a:ext cx="822960" cy="822960"/>
          </a:xfrm>
          <a:prstGeom prst="ellipse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Calibri"/>
              </a:defRPr>
            </a:pPr>
            <a:r>
              <a:t>Wk 1–4</a:t>
            </a:r>
          </a:p>
        </p:txBody>
      </p:sp>
      <p:sp>
        <p:nvSpPr>
          <p:cNvPr id="9" name="Oval 8"/>
          <p:cNvSpPr/>
          <p:nvPr/>
        </p:nvSpPr>
        <p:spPr>
          <a:xfrm>
            <a:off x="3108960" y="2011680"/>
            <a:ext cx="822960" cy="822960"/>
          </a:xfrm>
          <a:prstGeom prst="ellipse">
            <a:avLst/>
          </a:prstGeom>
          <a:solidFill>
            <a:srgbClr val="108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017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Tool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383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Calibri"/>
              </a:defRPr>
            </a:pPr>
            <a:r>
              <a:t>Wk 5–8</a:t>
            </a:r>
          </a:p>
        </p:txBody>
      </p:sp>
      <p:sp>
        <p:nvSpPr>
          <p:cNvPr id="13" name="Oval 12"/>
          <p:cNvSpPr/>
          <p:nvPr/>
        </p:nvSpPr>
        <p:spPr>
          <a:xfrm>
            <a:off x="4800600" y="2011680"/>
            <a:ext cx="822960" cy="822960"/>
          </a:xfrm>
          <a:prstGeom prst="ellipse">
            <a:avLst/>
          </a:prstGeom>
          <a:solidFill>
            <a:srgbClr val="0E6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017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Secrets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383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Calibri"/>
              </a:defRPr>
            </a:pPr>
            <a:r>
              <a:t>Wk 9–12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0" y="2011680"/>
            <a:ext cx="822960" cy="82296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017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383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Calibri"/>
              </a:defRPr>
            </a:pPr>
            <a:r>
              <a:t>Wk 13–18</a:t>
            </a:r>
          </a:p>
        </p:txBody>
      </p:sp>
      <p:sp>
        <p:nvSpPr>
          <p:cNvPr id="21" name="Oval 20"/>
          <p:cNvSpPr/>
          <p:nvPr/>
        </p:nvSpPr>
        <p:spPr>
          <a:xfrm>
            <a:off x="8183880" y="2011680"/>
            <a:ext cx="822960" cy="8229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017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383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Calibri"/>
              </a:defRPr>
            </a:pPr>
            <a:r>
              <a:t>Wk 19–26</a:t>
            </a:r>
          </a:p>
        </p:txBody>
      </p:sp>
      <p:sp>
        <p:nvSpPr>
          <p:cNvPr id="25" name="Oval 24"/>
          <p:cNvSpPr/>
          <p:nvPr/>
        </p:nvSpPr>
        <p:spPr>
          <a:xfrm>
            <a:off x="9875520" y="2011680"/>
            <a:ext cx="822960" cy="822960"/>
          </a:xfrm>
          <a:prstGeom prst="ellipse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017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Ecosystem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383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C757D"/>
                </a:solidFill>
                <a:latin typeface="Calibri"/>
              </a:defRPr>
            </a:pPr>
            <a:r>
              <a:t>Wk 27+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Key Milestones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6908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C79A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690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PyPI Launch — SDK with input/output scanning + policy 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047488"/>
            <a:ext cx="10058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074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C79A"/>
                </a:solidFill>
                <a:latin typeface="Calibri"/>
              </a:defRPr>
            </a:pPr>
            <a:r>
              <a:t>Week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074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Tool Interception — LangChain adapter + tool contracts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431536"/>
            <a:ext cx="100584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458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C79A"/>
                </a:solidFill>
                <a:latin typeface="Calibri"/>
              </a:defRPr>
            </a:pPr>
            <a:r>
              <a:t>Week 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4589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Secret Handling — Ephemeral credentials + approval workflows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5815583"/>
            <a:ext cx="10058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84301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C79A"/>
                </a:solidFill>
                <a:latin typeface="Calibri"/>
              </a:defRPr>
            </a:pPr>
            <a:r>
              <a:t>Week 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843015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Proxy Mode — Sidecar/gateway deployment + 1000 rps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6199631"/>
            <a:ext cx="10058400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622706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C79A"/>
                </a:solidFill>
                <a:latin typeface="Calibri"/>
              </a:defRPr>
            </a:pPr>
            <a:r>
              <a:t>Week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6227063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Dashboard — Web UI for policy management + compliance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Phase 1: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914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6C79A"/>
                </a:solidFill>
                <a:latin typeface="Calibri"/>
              </a:defRPr>
            </a:pPr>
            <a:r>
              <a:t>Weeks 1–4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Core SDK that works out of the 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22860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286000"/>
            <a:ext cx="5943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331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286000"/>
            <a:ext cx="109728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88920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788920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2788920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83464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Input scanner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3464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Text classification with built-in PII detectors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83464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27832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3227832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3227832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7355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Output 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27355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Scan responses, redact or block sensitive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27355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666744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666744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3666744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71246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Policy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712464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YAML-based policies with default-deny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71246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105656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4105656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4105656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15137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Data 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151376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Regex-based detection, configurable patterns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15137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544568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4544568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4544568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59028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Memory controller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590288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Schema-based memory, allow-listed fields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59028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4983479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0" y="4983479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4983479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029199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Audit logger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029199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Structured JSON to stdout/file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029199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5422392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0" y="5422392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0" y="5422392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54681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CLI tools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546811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safeai init, scan, validate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546811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5861304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0" y="5861304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00" y="5861304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840" y="590702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Default policies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5907024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Starter set covering common rules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590702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5943600"/>
            <a:ext cx="932688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97280" y="5989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C79A"/>
                </a:solidFill>
                <a:latin typeface="Calibri"/>
              </a:defRPr>
            </a:pPr>
            <a:r>
              <a:t>Exit Criteria: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8880" y="5989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Published to PyPI. Developer integrates in &lt; 30 min. &lt; 20ms overhead.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Phase 2: Tool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914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6C79A"/>
                </a:solidFill>
                <a:latin typeface="Calibri"/>
              </a:defRPr>
            </a:pPr>
            <a:r>
              <a:t>Weeks 5–8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Control what agents can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22860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286000"/>
            <a:ext cx="5943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331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286000"/>
            <a:ext cx="109728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88920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788920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2788920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83464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Tool call interceptor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3464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Validate tool calls against contracts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83464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27832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3227832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3227832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7355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Tool contracts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27355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YAML declarations of tool data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27355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666744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666744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3666744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71246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Response filtering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712464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Strip unauthorized fields from responses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71246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105656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4105656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4105656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15137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Agent identity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151376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Per-agent policy scoping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15137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544568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4544568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4544568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59028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LangChain adapter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590288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Framework middleware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59028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4983479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0" y="4983479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4983479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029199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Custom classifiers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029199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User-defined regex in policy files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029199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5422392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0" y="5422392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0" y="5422392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546811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CLI: safeai logs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546811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Query and display audit trail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546811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5943600"/>
            <a:ext cx="932688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7280" y="5989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C79A"/>
                </a:solidFill>
                <a:latin typeface="Calibri"/>
              </a:defRPr>
            </a:pPr>
            <a:r>
              <a:t>Exit Criteria: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68880" y="5989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Tool calls validated. Unauthorized data stripped. LangChain works in &lt; 10 LOC.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Phase 3: Secrets &amp; Approvals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914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6C79A"/>
                </a:solidFill>
                <a:latin typeface="Calibri"/>
              </a:defRPr>
            </a:pPr>
            <a:r>
              <a:t>Weeks 9–12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Credentials and human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22860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286000"/>
            <a:ext cx="5943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331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286000"/>
            <a:ext cx="109728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88920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788920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2788920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83464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Capability credentials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3464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Ephemeral secret injection with TTL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83464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27832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3227832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3227832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7355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Secret backends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27355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Env vars, HashiCorp Vault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27355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666744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666744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3666744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71246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Human approval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712464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CLI-based approval for high-risk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71246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105656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4105656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4105656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15137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Memory retention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151376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Automatic purge of expired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15137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544568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4544568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4544568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59028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Encrypted handles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590288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Sensitive fields as encrypted references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59028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4983479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0" y="4983479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4983479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029199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Claude + Google ADK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029199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Additional framework adapters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029199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5943600"/>
            <a:ext cx="932688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989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C79A"/>
                </a:solidFill>
                <a:latin typeface="Calibri"/>
              </a:defRPr>
            </a:pPr>
            <a:r>
              <a:t>Exit Criteria: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5989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Secrets never in agent context. Capabilities expire. Two secret backends.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Phase 4: Proxy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914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6C79A"/>
                </a:solidFill>
                <a:latin typeface="Calibri"/>
              </a:defRPr>
            </a:pPr>
            <a:r>
              <a:t>Weeks 13–18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Deploy as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22860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286000"/>
            <a:ext cx="5943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331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286000"/>
            <a:ext cx="109728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88920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788920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2788920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83464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HTTP proxy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3464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FastAPI-based sidecar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83464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27832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3227832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3227832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7355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Gateway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27355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Centralized proxy for multi-agent environments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27355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666744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666744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3666744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71246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Hot policy reload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712464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Changes without restart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71246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105656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4105656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4105656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15137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A2A enforcement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151376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Inter-agent trust boundaries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15137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544568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4544568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4544568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59028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Health checks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590288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/health endpoint with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59028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4983479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0" y="4983479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4983479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029199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Prometheus metrics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029199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Request counts, latency, decisions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029199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5943600"/>
            <a:ext cx="932688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989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C79A"/>
                </a:solidFill>
                <a:latin typeface="Calibri"/>
              </a:defRPr>
            </a:pPr>
            <a:r>
              <a:t>Exit Criteria: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5989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&lt; 50ms p99 latency. 1000+ rps. Works with any language via HTTP.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Phase 5: Dashboard &amp;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914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6C79A"/>
                </a:solidFill>
                <a:latin typeface="Calibri"/>
              </a:defRPr>
            </a:pPr>
            <a:r>
              <a:t>Weeks 19–26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Visibility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22860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286000"/>
            <a:ext cx="5943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331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286000"/>
            <a:ext cx="109728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88920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788920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2788920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83464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Web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3464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Overview, audit search, policy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83464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27832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3227832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3227832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7355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Approval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27355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Web-based approval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27355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C79A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666744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666744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3666744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71246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Compliance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712464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Audit reports for time ranges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71246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105656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4105656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4105656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15137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Multi-tenant policies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151376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Per-team policy sets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15137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544568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4544568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4544568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59028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590288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Dashboard access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59028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4983479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0" y="4983479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4983479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029199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Alerting rules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029199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Configurable violation alerts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029199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5943600"/>
            <a:ext cx="932688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989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C79A"/>
                </a:solidFill>
                <a:latin typeface="Calibri"/>
              </a:defRPr>
            </a:pPr>
            <a:r>
              <a:t>Exit Criteria: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5989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Security team investigates without engineering. Compliance reports satisfy SOC 2/GDPR.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Calibri"/>
              </a:defRPr>
            </a:pPr>
            <a:r>
              <a:t>Phase 6: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914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6C79A"/>
                </a:solidFill>
                <a:latin typeface="Calibri"/>
              </a:defRPr>
            </a:pPr>
            <a:r>
              <a:t>Weeks 27+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Become the standard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22860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286000"/>
            <a:ext cx="5943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331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286000"/>
            <a:ext cx="109728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88920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788920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2788920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83464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Plugin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3464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Community classifiers and backends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83464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27832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3227832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3227832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7355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More adapters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27355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CrewAI, AutoGen, custom frameworks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27355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666744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666744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3666744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71246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Structured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712464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JSON/XML field-level 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71246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105656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4105656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4105656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15137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File scanning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151376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Pre-process uploaded files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15137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757D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544568"/>
            <a:ext cx="22860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4544568"/>
            <a:ext cx="594360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4544568"/>
            <a:ext cx="1097280" cy="402336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59028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Voice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590288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Redaction for speech-to-text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59028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757D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4983479"/>
            <a:ext cx="22860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0" y="4983479"/>
            <a:ext cx="5943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4983479"/>
            <a:ext cx="1097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029199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Browser extension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029199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Client-side protection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029199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757D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5943600"/>
            <a:ext cx="932688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989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C79A"/>
                </a:solidFill>
                <a:latin typeface="Calibri"/>
              </a:defRPr>
            </a:pPr>
            <a:r>
              <a:t>Exit Criteria: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5989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Broad framework support. Community contributions. Industry standard.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