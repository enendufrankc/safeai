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SafeAI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6C79A"/>
                </a:solidFill>
                <a:latin typeface="Calibri"/>
              </a:defRPr>
            </a:pPr>
            <a:r>
              <a:t>The Open-Source Privacy &amp; Security Control Layer</a:t>
            </a:r>
            <a:br/>
            <a:r>
              <a:t>for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AA"/>
                </a:solidFill>
                <a:latin typeface="Calibri"/>
              </a:defRPr>
            </a:pPr>
            <a:r>
              <a:t>Framework-agnostic  •  Deterministic  •  Lightweight  •  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  <a:latin typeface="Calibri"/>
              </a:defRPr>
            </a:pPr>
            <a:r>
              <a:t>AI agents are powerful but unsafe by default.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3108960" cy="2926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Agents Leak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6C757D"/>
                </a:solidFill>
                <a:latin typeface="Calibri"/>
              </a:defRPr>
            </a:pPr>
            <a:r>
              <a:t>Public incidents: platforms exposing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6C757D"/>
                </a:solidFill>
                <a:latin typeface="Calibri"/>
              </a:defRPr>
            </a:pPr>
            <a:r>
              <a:t>user data, credentials, API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743200"/>
            <a:ext cx="3108960" cy="2926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Current Fixes Are Fragile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8404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6C757D"/>
                </a:solidFill>
                <a:latin typeface="Calibri"/>
              </a:defRPr>
            </a:pPr>
            <a:r>
              <a:t>Prompt-based safety drifts.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6C757D"/>
                </a:solidFill>
                <a:latin typeface="Calibri"/>
              </a:defRPr>
            </a:pPr>
            <a:r>
              <a:t>Framework guardrails don't transfer.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743200"/>
            <a:ext cx="3108960" cy="2926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The Gap Is Growing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8404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6C757D"/>
                </a:solidFill>
                <a:latin typeface="Calibri"/>
              </a:defRPr>
            </a:pPr>
            <a:r>
              <a:t>Agent deployments accelerating.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6C757D"/>
                </a:solidFill>
                <a:latin typeface="Calibri"/>
              </a:defRPr>
            </a:pPr>
            <a:r>
              <a:t>Regulation tightening. Controls falling behind.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Calibri"/>
              </a:defRPr>
            </a:pPr>
            <a:r>
              <a:t>Major tech companies have banned agent platforms over security concerns. The problem demands an industry-level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2E"/>
                </a:solidFill>
                <a:latin typeface="Calibri"/>
              </a:defRPr>
            </a:pPr>
            <a:r>
              <a:t>A runtime control layer that enforces privacy and security policies</a:t>
            </a:r>
            <a:br/>
            <a:r>
              <a:t>at the boundaries where AI agent data flows.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3108960" cy="2560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6C79A"/>
                </a:solidFill>
                <a:latin typeface="Calibri"/>
              </a:defRPr>
            </a:pPr>
            <a:r>
              <a:t>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49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Input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Classify &amp; filter data</a:t>
            </a:r>
          </a:p>
          <a:p>
            <a:pPr algn="ctr">
              <a:spcAft>
                <a:spcPts val="80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before the AI processes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926080"/>
            <a:ext cx="3108960" cy="2560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6C79A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49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Action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Validate tool calls, inject</a:t>
            </a:r>
          </a:p>
          <a:p>
            <a:pPr algn="ctr">
              <a:spcAft>
                <a:spcPts val="80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scoped credentials, gate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926080"/>
            <a:ext cx="3108960" cy="2560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6C79A"/>
                </a:solidFill>
                <a:latin typeface="Calibri"/>
              </a:defRPr>
            </a:pPr>
            <a:r>
              <a:t>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749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Output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Scan responses, redact</a:t>
            </a:r>
          </a:p>
          <a:p>
            <a:pPr algn="ctr">
              <a:spcAft>
                <a:spcPts val="80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sensitive data, block violations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C79A"/>
                </a:solidFill>
                <a:latin typeface="Calibri"/>
              </a:defRPr>
            </a:pPr>
            <a:r>
              <a:t>The agent cannot leak what it never received.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6C79A"/>
                </a:solidFill>
                <a:latin typeface="Calibri"/>
              </a:defRPr>
            </a:pPr>
            <a:r>
              <a:t>SafeAI sits underneath any AI framework — not inside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User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926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C7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2560320"/>
            <a:ext cx="1005840" cy="128016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2743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C79A"/>
                </a:solidFill>
                <a:latin typeface="Calibri"/>
              </a:defRPr>
            </a:pPr>
            <a:r>
              <a:t>Input</a:t>
            </a:r>
            <a:br/>
            <a:r>
              <a:t>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2926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C7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Agent</a:t>
            </a:r>
            <a:br/>
            <a:r>
              <a:t>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926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C7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59" y="2560320"/>
            <a:ext cx="1005840" cy="128016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79" y="2743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C79A"/>
                </a:solidFill>
                <a:latin typeface="Calibri"/>
              </a:defRPr>
            </a:pPr>
            <a:r>
              <a:t>Action</a:t>
            </a:r>
            <a:br/>
            <a:r>
              <a:t>Interceptor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2926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C7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560320"/>
            <a:ext cx="1005840" cy="128016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743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C79A"/>
                </a:solidFill>
                <a:latin typeface="Calibri"/>
              </a:defRPr>
            </a:pPr>
            <a:r>
              <a:t>Output</a:t>
            </a:r>
            <a:br/>
            <a:r>
              <a:t>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2926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C7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27432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Safe</a:t>
            </a:r>
            <a:br/>
            <a:r>
              <a:t>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754880"/>
            <a:ext cx="2011680" cy="6400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Policy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4754880"/>
            <a:ext cx="2011680" cy="6400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Data Classifier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754880"/>
            <a:ext cx="2011680" cy="6400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Memory Controller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4754880"/>
            <a:ext cx="2011680" cy="6400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59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Audit Logger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&lt; 50ms overhead  •  No extra LLM calls  •  Deterministic rules  •  Full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Calibri"/>
              </a:defRPr>
            </a:pPr>
            <a:r>
              <a:t>Why SafeAI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54864" cy="164592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Framework-Agnostic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Works with LangChain, Claude ADK,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Google ADK, custom stacks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54864" cy="164592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51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Transparent, inspectable,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community-driven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11680"/>
            <a:ext cx="54864" cy="164592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Boundary-Based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51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Enforces at data boundaries,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not inside prompts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54864" cy="164592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Deterministic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937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Rules-based, predictable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behavior every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4297680"/>
            <a:ext cx="54864" cy="164592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Lightweight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937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&lt; 50ms overhead,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no extra LLM calls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4297680"/>
            <a:ext cx="54864" cy="164592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Developer-First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937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SDK, CLI, YAML config —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not a heavy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2011680"/>
            <a:ext cx="2194560" cy="219456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$10B+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AI Infrastructure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Security by 2028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2011680"/>
            <a:ext cx="2194560" cy="2194560"/>
          </a:xfrm>
          <a:prstGeom prst="ellipse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7432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$2–3B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AI Agent Security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Specifically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1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432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Year 3 Target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100+ Enterprise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Public incidents creating urgency — companies can no longer defer AI security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No open standard exists — first mover establishes the category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Agent adoption accelerating — every deployment needs security controls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C757D"/>
                </a:solidFill>
                <a:latin typeface="Calibri"/>
              </a:defRPr>
            </a:pPr>
            <a:r>
              <a:t>Regulation arriving — EU AI Act, GDPR enforcement creating compliance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Calibri"/>
              </a:defRPr>
            </a:pPr>
            <a:r>
              <a:t>Business Model: Open-Core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108960" cy="43891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Free Forever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C757D"/>
                </a:solidFill>
                <a:latin typeface="Calibri"/>
              </a:defRPr>
            </a:pPr>
            <a:r>
              <a:t>✓  Core engine &amp; SDK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C757D"/>
                </a:solidFill>
                <a:latin typeface="Calibri"/>
              </a:defRPr>
            </a:pPr>
            <a:r>
              <a:t>✓  Policy engine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C757D"/>
                </a:solidFill>
                <a:latin typeface="Calibri"/>
              </a:defRPr>
            </a:pPr>
            <a:r>
              <a:t>✓  CLI tools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C757D"/>
                </a:solidFill>
                <a:latin typeface="Calibri"/>
              </a:defRPr>
            </a:pPr>
            <a:r>
              <a:t>✓  Framework adapters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C757D"/>
                </a:solidFill>
                <a:latin typeface="Calibri"/>
              </a:defRPr>
            </a:pPr>
            <a:r>
              <a:t>✓  Audit logging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C757D"/>
                </a:solidFill>
                <a:latin typeface="Calibri"/>
              </a:defRPr>
            </a:pPr>
            <a:r>
              <a:t>✓  Community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108960" cy="4389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SafeAI 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C79A"/>
                </a:solidFill>
                <a:latin typeface="Calibri"/>
              </a:defRPr>
            </a:pPr>
            <a:r>
              <a:t>$500–$2K/mo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918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Web dashboard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Approval workflow UI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Compliance reports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Multi-tenant policies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Priority support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SLA guarantees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828800"/>
            <a:ext cx="3108960" cy="4389120"/>
          </a:xfrm>
          <a:prstGeom prst="rect">
            <a:avLst/>
          </a:prstGeom>
          <a:solidFill>
            <a:srgbClr val="1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SafeAI 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C79A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918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Managed gateway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SSO &amp; RBAC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Dedicated support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Custom classifiers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On-premise deploy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Security audit 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3108960" y="2011680"/>
            <a:ext cx="2011680" cy="7315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Framework</a:t>
            </a:r>
            <a:br/>
            <a:r>
              <a:t>Guardrails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2011680"/>
            <a:ext cx="2011680" cy="7315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Enterprise</a:t>
            </a:r>
            <a:br/>
            <a:r>
              <a:t>Platforms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2011680"/>
            <a:ext cx="2011680" cy="7315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DLP</a:t>
            </a:r>
            <a:br/>
            <a:r>
              <a:t>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011680"/>
            <a:ext cx="201168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SafeAI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26080"/>
            <a:ext cx="10972800" cy="5486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Framework Agnostic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971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971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971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971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52044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114800"/>
            <a:ext cx="10972800" cy="5486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AI-Native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70916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Lightweight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5303520"/>
            <a:ext cx="10972800" cy="5486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Deterministic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589788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Developer-First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C79A"/>
                </a:solidFill>
                <a:latin typeface="Calibri"/>
              </a:defRPr>
            </a:pPr>
            <a:r>
              <a:t>No competitor is open-source, boundary-based, AND framework-agnostic.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3" name="Oval 2"/>
          <p:cNvSpPr/>
          <p:nvPr/>
        </p:nvSpPr>
        <p:spPr>
          <a:xfrm>
            <a:off x="2011680" y="1645920"/>
            <a:ext cx="731520" cy="731520"/>
          </a:xfrm>
          <a:prstGeom prst="ellipse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C79A"/>
                </a:solidFill>
                <a:latin typeface="Calibri"/>
              </a:defRPr>
            </a:pPr>
            <a:r>
              <a:t>Months 1–3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Developer</a:t>
            </a:r>
            <a:br/>
            <a:r>
              <a:t>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490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9999AA"/>
                </a:solidFill>
                <a:latin typeface="Calibri"/>
              </a:defRPr>
            </a:pPr>
            <a:r>
              <a:t>GitHub launch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9999AA"/>
                </a:solidFill>
                <a:latin typeface="Calibri"/>
              </a:defRPr>
            </a:pPr>
            <a:r>
              <a:t>Blog posts &amp; tutorials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9999AA"/>
                </a:solidFill>
                <a:latin typeface="Calibri"/>
              </a:defRPr>
            </a:pPr>
            <a:r>
              <a:t>Community engagement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5303520"/>
            <a:ext cx="2560320" cy="9144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39495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16C79A"/>
                </a:solidFill>
                <a:latin typeface="Calibri"/>
              </a:defRPr>
            </a:pPr>
            <a:r>
              <a:t>500 stars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16C79A"/>
                </a:solidFill>
                <a:latin typeface="Calibri"/>
              </a:defRPr>
            </a:pPr>
            <a:r>
              <a:t>50 active users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645920"/>
            <a:ext cx="731520" cy="731520"/>
          </a:xfrm>
          <a:prstGeom prst="ellipse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C79A"/>
                </a:solidFill>
                <a:latin typeface="Calibri"/>
              </a:defRPr>
            </a:pPr>
            <a:r>
              <a:t>Months 4–6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Ecosystem</a:t>
            </a:r>
            <a:br/>
            <a:r>
              <a:t>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7490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9999AA"/>
                </a:solidFill>
                <a:latin typeface="Calibri"/>
              </a:defRPr>
            </a:pPr>
            <a:r>
              <a:t>Framework partnerships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9999AA"/>
                </a:solidFill>
                <a:latin typeface="Calibri"/>
              </a:defRPr>
            </a:pPr>
            <a:r>
              <a:t>Integration guides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9999AA"/>
                </a:solidFill>
                <a:latin typeface="Calibri"/>
              </a:defRPr>
            </a:pPr>
            <a:r>
              <a:t>Case studies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5303520"/>
            <a:ext cx="2560320" cy="9144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539495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16C79A"/>
                </a:solidFill>
                <a:latin typeface="Calibri"/>
              </a:defRPr>
            </a:pPr>
            <a:r>
              <a:t>2,000 stars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16C79A"/>
                </a:solidFill>
                <a:latin typeface="Calibri"/>
              </a:defRPr>
            </a:pPr>
            <a:r>
              <a:t>200 active users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0" y="1645920"/>
            <a:ext cx="731520" cy="731520"/>
          </a:xfrm>
          <a:prstGeom prst="ellipse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C79A"/>
                </a:solidFill>
                <a:latin typeface="Calibri"/>
              </a:defRPr>
            </a:pPr>
            <a:r>
              <a:t>Months 7–12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Enterprise</a:t>
            </a:r>
            <a:br/>
            <a:r>
              <a:t>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490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9999AA"/>
                </a:solidFill>
                <a:latin typeface="Calibri"/>
              </a:defRPr>
            </a:pPr>
            <a:r>
              <a:t>Launch Pro tier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9999AA"/>
                </a:solidFill>
                <a:latin typeface="Calibri"/>
              </a:defRPr>
            </a:pPr>
            <a:r>
              <a:t>Security conferences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9999AA"/>
                </a:solidFill>
                <a:latin typeface="Calibri"/>
              </a:defRPr>
            </a:pPr>
            <a:r>
              <a:t>Enterprise pilots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5303520"/>
            <a:ext cx="2560320" cy="9144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539495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16C79A"/>
                </a:solidFill>
                <a:latin typeface="Calibri"/>
              </a:defRPr>
            </a:pPr>
            <a:r>
              <a:t>5,000 stars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16C79A"/>
                </a:solidFill>
                <a:latin typeface="Calibri"/>
              </a:defRPr>
            </a:pPr>
            <a:r>
              <a:t>10 pilots, $300K ARR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Year 1 — Quarterly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1887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Quarter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2377440"/>
            <a:ext cx="11887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2423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OSS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377440"/>
            <a:ext cx="11887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423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2377440"/>
            <a:ext cx="11887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423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MRR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26080"/>
            <a:ext cx="11887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2926080"/>
            <a:ext cx="11887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971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926080"/>
            <a:ext cx="11887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79" y="2926080"/>
            <a:ext cx="11887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2971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C79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42900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342900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42900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79" y="342900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79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C79A"/>
                </a:solidFill>
                <a:latin typeface="Calibri"/>
              </a:defRPr>
            </a:pPr>
            <a:r>
              <a:t>$5K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931920"/>
            <a:ext cx="11887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977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3931920"/>
            <a:ext cx="11887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977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800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3931920"/>
            <a:ext cx="11887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3977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79" y="3931920"/>
            <a:ext cx="11887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79" y="3977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C79A"/>
                </a:solidFill>
                <a:latin typeface="Calibri"/>
              </a:defRPr>
            </a:pPr>
            <a:r>
              <a:t>$20K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43484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80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443484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480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1,200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443484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4480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79" y="443484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79" y="4480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C79A"/>
                </a:solidFill>
                <a:latin typeface="Calibri"/>
              </a:defRPr>
            </a:pPr>
            <a:r>
              <a:t>$50K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3-Year Trajectory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926080"/>
            <a:ext cx="1371600" cy="45720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$300K ARR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1,200 users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4114799"/>
            <a:ext cx="2743200" cy="45720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41605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$1.5M ARR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1605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5,000 users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5303520"/>
            <a:ext cx="4572000" cy="45720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6424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$5M ARR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15,000 users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9144000" cy="16459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C79A"/>
                </a:solidFill>
                <a:latin typeface="Calibri"/>
              </a:defRPr>
            </a:pPr>
            <a:r>
              <a:t>$500K – $1M Seed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51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BBBBCC"/>
                </a:solidFill>
                <a:latin typeface="Calibri"/>
              </a:defRPr>
            </a:pPr>
            <a:r>
              <a:t>•  Build and launch the open-source core (Phase 1–2)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BBBBCC"/>
                </a:solidFill>
                <a:latin typeface="Calibri"/>
              </a:defRPr>
            </a:pPr>
            <a:r>
              <a:t>•  Hire founding security engineer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BBBBCC"/>
                </a:solidFill>
                <a:latin typeface="Calibri"/>
              </a:defRPr>
            </a:pPr>
            <a:r>
              <a:t>•  Reach 1,000 active users and 10 enterprise pilots within 12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840480"/>
            <a:ext cx="2743200" cy="20116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For Investors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663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Own a stake in the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open standard for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AI agent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840480"/>
            <a:ext cx="2743200" cy="20116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For Early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663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Shape the product.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Design partnership.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Priority access.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840480"/>
            <a:ext cx="2743200" cy="20116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C79A"/>
                </a:solidFill>
                <a:latin typeface="Calibri"/>
              </a:defRPr>
            </a:pPr>
            <a:r>
              <a:t>For Contributors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663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Real impact.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Community recognition.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Maintainer paths.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SafeAI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400" b="0">
                <a:solidFill>
                  <a:srgbClr val="9999AA"/>
                </a:solidFill>
                <a:latin typeface="Calibri"/>
              </a:defRPr>
            </a:pPr>
            <a:r>
              <a:t>Networking got firewalls.</a:t>
            </a:r>
          </a:p>
          <a:p>
            <a:pPr algn="ctr">
              <a:spcAft>
                <a:spcPts val="1200"/>
              </a:spcAft>
              <a:defRPr sz="2400" b="0">
                <a:solidFill>
                  <a:srgbClr val="9999AA"/>
                </a:solidFill>
                <a:latin typeface="Calibri"/>
              </a:defRPr>
            </a:pPr>
            <a:r>
              <a:t>APIs got gateways.</a:t>
            </a:r>
          </a:p>
          <a:p>
            <a:pPr algn="ctr">
              <a:spcAft>
                <a:spcPts val="1200"/>
              </a:spcAft>
              <a:defRPr sz="2400" b="0">
                <a:solidFill>
                  <a:srgbClr val="9999AA"/>
                </a:solidFill>
                <a:latin typeface="Calibri"/>
              </a:defRPr>
            </a:pPr>
            <a:r>
              <a:t>Microservices got service meshes.</a:t>
            </a:r>
          </a:p>
          <a:p>
            <a:pPr algn="ctr">
              <a:spcAft>
                <a:spcPts val="1200"/>
              </a:spcAft>
              <a:defRPr sz="2400" b="0">
                <a:solidFill>
                  <a:srgbClr val="9999AA"/>
                </a:solidFill>
                <a:latin typeface="Calibri"/>
              </a:defRPr>
            </a:pPr>
            <a:r>
              <a:t>AI agents are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C79A"/>
                </a:solidFill>
                <a:latin typeface="Calibri"/>
              </a:defRPr>
            </a:pPr>
            <a:r>
              <a:t>The open standard for AI agent security.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Let's build it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